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6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ulya reddy" userId="0224a06dbafc96fe" providerId="LiveId" clId="{03A4CE15-BE59-4A91-83A4-E1FEBDE065A3}"/>
    <pc:docChg chg="modSld">
      <pc:chgData name="amulya reddy" userId="0224a06dbafc96fe" providerId="LiveId" clId="{03A4CE15-BE59-4A91-83A4-E1FEBDE065A3}" dt="2025-09-27T08:32:56.170" v="12" actId="113"/>
      <pc:docMkLst>
        <pc:docMk/>
      </pc:docMkLst>
      <pc:sldChg chg="modSp mod">
        <pc:chgData name="amulya reddy" userId="0224a06dbafc96fe" providerId="LiveId" clId="{03A4CE15-BE59-4A91-83A4-E1FEBDE065A3}" dt="2025-09-27T08:32:20.313" v="0" actId="14100"/>
        <pc:sldMkLst>
          <pc:docMk/>
          <pc:sldMk cId="2197660344" sldId="256"/>
        </pc:sldMkLst>
        <pc:spChg chg="mod">
          <ac:chgData name="amulya reddy" userId="0224a06dbafc96fe" providerId="LiveId" clId="{03A4CE15-BE59-4A91-83A4-E1FEBDE065A3}" dt="2025-09-27T08:32:20.313" v="0" actId="14100"/>
          <ac:spMkLst>
            <pc:docMk/>
            <pc:sldMk cId="2197660344" sldId="256"/>
            <ac:spMk id="2" creationId="{ACFC235B-C1F4-4962-CD9C-EA42ABB0C916}"/>
          </ac:spMkLst>
        </pc:spChg>
      </pc:sldChg>
      <pc:sldChg chg="modSp mod">
        <pc:chgData name="amulya reddy" userId="0224a06dbafc96fe" providerId="LiveId" clId="{03A4CE15-BE59-4A91-83A4-E1FEBDE065A3}" dt="2025-09-27T08:32:56.170" v="12" actId="113"/>
        <pc:sldMkLst>
          <pc:docMk/>
          <pc:sldMk cId="2473588497" sldId="257"/>
        </pc:sldMkLst>
        <pc:spChg chg="mod">
          <ac:chgData name="amulya reddy" userId="0224a06dbafc96fe" providerId="LiveId" clId="{03A4CE15-BE59-4A91-83A4-E1FEBDE065A3}" dt="2025-09-27T08:32:56.170" v="12" actId="113"/>
          <ac:spMkLst>
            <pc:docMk/>
            <pc:sldMk cId="2473588497" sldId="257"/>
            <ac:spMk id="3" creationId="{4253AF3B-1BCB-A203-AADE-440FF276D70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88131-24F3-4EE0-B4A9-75D9C4BB8FAB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A6E22-2A9F-474F-8C2C-A3A113C80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06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A6E22-2A9F-474F-8C2C-A3A113C80B7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59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34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903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287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790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481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318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247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79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43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14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15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3614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175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644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840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294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443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94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208ED06-5051-4373-A887-B96C4B18065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4575614-84F1-4248-93D6-C813023C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60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  <p:sldLayoutId id="2147484024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235B-C1F4-4962-CD9C-EA42ABB0C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9610894" cy="2509213"/>
          </a:xfrm>
        </p:spPr>
        <p:txBody>
          <a:bodyPr>
            <a:normAutofit/>
          </a:bodyPr>
          <a:lstStyle/>
          <a:p>
            <a:r>
              <a:rPr lang="en-US" dirty="0"/>
              <a:t>Retail Orders Data Analysis: Sales Performance &amp; Growth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88481-9B00-5705-0C93-41F6CF46FB97}"/>
              </a:ext>
            </a:extLst>
          </p:cNvPr>
          <p:cNvSpPr txBox="1"/>
          <p:nvPr/>
        </p:nvSpPr>
        <p:spPr>
          <a:xfrm>
            <a:off x="7500026" y="4892675"/>
            <a:ext cx="37840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Presented by</a:t>
            </a:r>
          </a:p>
          <a:p>
            <a:r>
              <a:rPr lang="en-US" sz="3200" dirty="0"/>
              <a:t>     Tenali Amulya.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9766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3AF3B-1BCB-A203-AADE-440FF276D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739" y="1561397"/>
            <a:ext cx="10515600" cy="3326644"/>
          </a:xfrm>
        </p:spPr>
        <p:txBody>
          <a:bodyPr>
            <a:normAutofit fontScale="85000" lnSpcReduction="10000"/>
          </a:bodyPr>
          <a:lstStyle/>
          <a:p>
            <a:r>
              <a:rPr lang="en-US" sz="2000" b="1" dirty="0">
                <a:cs typeface="Times New Roman" panose="02020603050405020304" pitchFamily="18" charset="0"/>
              </a:rPr>
              <a:t>Objective : </a:t>
            </a:r>
            <a:r>
              <a:rPr lang="en-US" sz="2000" dirty="0">
                <a:cs typeface="Times New Roman" panose="02020603050405020304" pitchFamily="18" charset="0"/>
              </a:rPr>
              <a:t>Analyze retail order data (2022-2023) to understand sales drivers, measure growth, and identify top-performing areas.</a:t>
            </a:r>
          </a:p>
          <a:p>
            <a:r>
              <a:rPr lang="en-IN" sz="2000" b="1" dirty="0">
                <a:cs typeface="Times New Roman" panose="02020603050405020304" pitchFamily="18" charset="0"/>
              </a:rPr>
              <a:t>Data :</a:t>
            </a:r>
            <a:r>
              <a:rPr lang="en-IN" sz="2000" dirty="0">
                <a:cs typeface="Times New Roman" panose="02020603050405020304" pitchFamily="18" charset="0"/>
              </a:rPr>
              <a:t>orders.csv data</a:t>
            </a:r>
          </a:p>
          <a:p>
            <a:r>
              <a:rPr lang="en-IN" sz="2000" b="1" dirty="0">
                <a:cs typeface="Times New Roman" panose="02020603050405020304" pitchFamily="18" charset="0"/>
              </a:rPr>
              <a:t>Methodology : </a:t>
            </a:r>
            <a:r>
              <a:rPr lang="en-IN" sz="1800" b="1" dirty="0">
                <a:cs typeface="Times New Roman" panose="02020603050405020304" pitchFamily="18" charset="0"/>
              </a:rPr>
              <a:t>1. Data Cleaning &amp; Transformation</a:t>
            </a:r>
            <a:r>
              <a:rPr lang="en-IN" sz="2000" b="1" dirty="0">
                <a:cs typeface="Times New Roman" panose="02020603050405020304" pitchFamily="18" charset="0"/>
              </a:rPr>
              <a:t>:</a:t>
            </a:r>
            <a:r>
              <a:rPr lang="en-IN" sz="2000" dirty="0">
                <a:cs typeface="Times New Roman" panose="02020603050405020304" pitchFamily="18" charset="0"/>
              </a:rPr>
              <a:t> Handled nulls, standardized columns, derived discount, sale price, and profit.</a:t>
            </a:r>
          </a:p>
          <a:p>
            <a:r>
              <a:rPr lang="en-IN" sz="2000" dirty="0">
                <a:cs typeface="Times New Roman" panose="02020603050405020304" pitchFamily="18" charset="0"/>
              </a:rPr>
              <a:t> </a:t>
            </a:r>
            <a:r>
              <a:rPr lang="en-IN" sz="1800" b="1" dirty="0">
                <a:cs typeface="Times New Roman" panose="02020603050405020304" pitchFamily="18" charset="0"/>
              </a:rPr>
              <a:t>2. Database Integration:</a:t>
            </a:r>
            <a:r>
              <a:rPr lang="en-IN" sz="1800" dirty="0">
                <a:cs typeface="Times New Roman" panose="02020603050405020304" pitchFamily="18" charset="0"/>
              </a:rPr>
              <a:t> </a:t>
            </a:r>
            <a:r>
              <a:rPr lang="en-IN" sz="2000" dirty="0">
                <a:cs typeface="Times New Roman" panose="02020603050405020304" pitchFamily="18" charset="0"/>
              </a:rPr>
              <a:t>Used </a:t>
            </a:r>
            <a:r>
              <a:rPr lang="en-IN" sz="1800" b="1" dirty="0" err="1">
                <a:cs typeface="Times New Roman" panose="02020603050405020304" pitchFamily="18" charset="0"/>
              </a:rPr>
              <a:t>SQLAlchemy</a:t>
            </a:r>
            <a:r>
              <a:rPr lang="en-IN" sz="2000" dirty="0">
                <a:cs typeface="Times New Roman" panose="02020603050405020304" pitchFamily="18" charset="0"/>
              </a:rPr>
              <a:t> to load cleaned data into </a:t>
            </a:r>
            <a:r>
              <a:rPr lang="en-IN" sz="1800" b="1" dirty="0">
                <a:cs typeface="Times New Roman" panose="02020603050405020304" pitchFamily="18" charset="0"/>
              </a:rPr>
              <a:t>MySQL</a:t>
            </a:r>
            <a:endParaRPr lang="en-IN" sz="2000" dirty="0">
              <a:cs typeface="Times New Roman" panose="02020603050405020304" pitchFamily="18" charset="0"/>
            </a:endParaRPr>
          </a:p>
          <a:p>
            <a:r>
              <a:rPr lang="en-IN" sz="2000" dirty="0">
                <a:cs typeface="Times New Roman" panose="02020603050405020304" pitchFamily="18" charset="0"/>
              </a:rPr>
              <a:t> </a:t>
            </a:r>
            <a:r>
              <a:rPr lang="en-IN" sz="2000" b="1" dirty="0">
                <a:cs typeface="Times New Roman" panose="02020603050405020304" pitchFamily="18" charset="0"/>
              </a:rPr>
              <a:t>3. Analytical Querying:</a:t>
            </a:r>
            <a:r>
              <a:rPr lang="en-IN" sz="2000" dirty="0">
                <a:cs typeface="Times New Roman" panose="02020603050405020304" pitchFamily="18" charset="0"/>
              </a:rPr>
              <a:t> Executed complex </a:t>
            </a:r>
            <a:r>
              <a:rPr lang="en-IN" sz="1800" b="1" dirty="0">
                <a:cs typeface="Times New Roman" panose="02020603050405020304" pitchFamily="18" charset="0"/>
              </a:rPr>
              <a:t>SQL</a:t>
            </a:r>
            <a:r>
              <a:rPr lang="en-IN" sz="2000" dirty="0">
                <a:cs typeface="Times New Roman" panose="02020603050405020304" pitchFamily="18" charset="0"/>
              </a:rPr>
              <a:t> queries (using CTEs, Window Functions) to answer business questions. </a:t>
            </a:r>
            <a:r>
              <a:rPr lang="en-IN" sz="2000" b="1" dirty="0">
                <a:cs typeface="Times New Roman" panose="02020603050405020304" pitchFamily="18" charset="0"/>
              </a:rPr>
              <a:t>4. Visualization:</a:t>
            </a:r>
            <a:r>
              <a:rPr lang="en-IN" sz="2000" dirty="0">
                <a:cs typeface="Times New Roman" panose="02020603050405020304" pitchFamily="18" charset="0"/>
              </a:rPr>
              <a:t> Generated insights using</a:t>
            </a:r>
            <a:r>
              <a:rPr lang="en-IN" sz="1800" dirty="0">
                <a:cs typeface="Times New Roman" panose="02020603050405020304" pitchFamily="18" charset="0"/>
              </a:rPr>
              <a:t> </a:t>
            </a:r>
            <a:r>
              <a:rPr lang="en-IN" sz="1800" b="1" dirty="0">
                <a:cs typeface="Times New Roman" panose="02020603050405020304" pitchFamily="18" charset="0"/>
              </a:rPr>
              <a:t>Pandas</a:t>
            </a:r>
            <a:r>
              <a:rPr lang="en-IN" sz="1800" dirty="0">
                <a:cs typeface="Times New Roman" panose="02020603050405020304" pitchFamily="18" charset="0"/>
              </a:rPr>
              <a:t> </a:t>
            </a:r>
            <a:r>
              <a:rPr lang="en-IN" sz="2000" dirty="0">
                <a:cs typeface="Times New Roman" panose="02020603050405020304" pitchFamily="18" charset="0"/>
              </a:rPr>
              <a:t>and </a:t>
            </a:r>
            <a:r>
              <a:rPr lang="en-IN" sz="1800" b="1" dirty="0">
                <a:cs typeface="Times New Roman" panose="02020603050405020304" pitchFamily="18" charset="0"/>
              </a:rPr>
              <a:t>Matplotlib</a:t>
            </a:r>
            <a:r>
              <a:rPr lang="en-IN" sz="2000" dirty="0"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cs typeface="Times New Roman" panose="02020603050405020304" pitchFamily="18" charset="0"/>
              </a:rPr>
              <a:t>Tools Used : </a:t>
            </a:r>
            <a:r>
              <a:rPr lang="en-IN" sz="2000" dirty="0">
                <a:cs typeface="Times New Roman" panose="02020603050405020304" pitchFamily="18" charset="0"/>
              </a:rPr>
              <a:t>Python, Pandas, Matplotlib</a:t>
            </a:r>
            <a:r>
              <a:rPr lang="en-IN" sz="1800" dirty="0"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cs typeface="Times New Roman" panose="02020603050405020304" pitchFamily="18" charset="0"/>
              </a:rPr>
              <a:t>SQLAlchemy</a:t>
            </a:r>
            <a:r>
              <a:rPr lang="en-IN" sz="1800" dirty="0">
                <a:cs typeface="Times New Roman" panose="02020603050405020304" pitchFamily="18" charset="0"/>
              </a:rPr>
              <a:t>, MySQL</a:t>
            </a:r>
            <a:r>
              <a:rPr lang="en-IN" sz="18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6A6372-11CB-4292-4E82-D7FCE08CA71F}"/>
              </a:ext>
            </a:extLst>
          </p:cNvPr>
          <p:cNvSpPr txBox="1"/>
          <p:nvPr/>
        </p:nvSpPr>
        <p:spPr>
          <a:xfrm>
            <a:off x="2655651" y="398833"/>
            <a:ext cx="60019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&amp; Methodology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588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95702-6796-2558-D0E7-E1FB1D4D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Insight 1: Top 10 Revenue Products</a:t>
            </a:r>
            <a:endParaRPr lang="en-IN" sz="2400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5015AC-9A11-757C-7E8B-1AB34A8FF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778" y="1690688"/>
            <a:ext cx="4956741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66DB05-AE85-2501-E8FF-BEC2B3C79455}"/>
              </a:ext>
            </a:extLst>
          </p:cNvPr>
          <p:cNvSpPr txBox="1"/>
          <p:nvPr/>
        </p:nvSpPr>
        <p:spPr>
          <a:xfrm>
            <a:off x="6838545" y="2237362"/>
            <a:ext cx="42704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Identify the top 10 products contributing the highest total sales revenue.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top-selling product is </a:t>
            </a:r>
            <a:r>
              <a:rPr lang="en-US" b="1" dirty="0"/>
              <a:t>TEC-CO-10004722</a:t>
            </a:r>
            <a:r>
              <a:rPr lang="en-US" dirty="0"/>
              <a:t>, generating over </a:t>
            </a:r>
            <a:r>
              <a:rPr lang="en-US" b="1" dirty="0"/>
              <a:t>60,000</a:t>
            </a:r>
            <a:r>
              <a:rPr lang="en-US" dirty="0"/>
              <a:t> in sales (approx. </a:t>
            </a:r>
            <a:r>
              <a:rPr lang="en-US" b="1" dirty="0"/>
              <a:t>60K</a:t>
            </a:r>
            <a:r>
              <a:rPr lang="en-US" dirty="0"/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Actionable Takeaway: </a:t>
            </a:r>
            <a:r>
              <a:rPr lang="en-US" dirty="0"/>
              <a:t>Prioritize marketing and stock levels for TEC-CO-10004722 and other top-tier SKUs to maximize profit capture.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458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BB0E13-3527-608E-FA0F-FD9EDB71F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1" y="1189294"/>
            <a:ext cx="5342083" cy="54716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097D90-A5F6-A521-CDDB-9D8029C709A7}"/>
              </a:ext>
            </a:extLst>
          </p:cNvPr>
          <p:cNvSpPr txBox="1"/>
          <p:nvPr/>
        </p:nvSpPr>
        <p:spPr>
          <a:xfrm>
            <a:off x="710120" y="311285"/>
            <a:ext cx="6780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 2 :Top 5 Selling Products per Region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257CB-7ADD-1B5F-D630-F0C51BA8F37B}"/>
              </a:ext>
            </a:extLst>
          </p:cNvPr>
          <p:cNvSpPr txBox="1"/>
          <p:nvPr/>
        </p:nvSpPr>
        <p:spPr>
          <a:xfrm>
            <a:off x="6838545" y="1799617"/>
            <a:ext cx="45039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Central</a:t>
            </a:r>
            <a:r>
              <a:rPr lang="en-US" dirty="0"/>
              <a:t> region's top product (TEC-CO-10004722) has sales of  17</a:t>
            </a:r>
            <a:r>
              <a:rPr lang="en-US" dirty="0">
                <a:effectLst/>
              </a:rPr>
              <a:t>K</a:t>
            </a:r>
            <a:r>
              <a:rPr lang="en-US" dirty="0"/>
              <a:t>, while the </a:t>
            </a:r>
            <a:r>
              <a:rPr lang="en-US" b="1" dirty="0"/>
              <a:t>West</a:t>
            </a:r>
            <a:r>
              <a:rPr lang="en-US" dirty="0"/>
              <a:t> region's top product (TEC-CO-10004722) has sales of  30</a:t>
            </a:r>
            <a:r>
              <a:rPr lang="en-US" dirty="0">
                <a:effectLst/>
              </a:rPr>
              <a:t>K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Observation: TEC-CO-10004722</a:t>
            </a:r>
            <a:r>
              <a:rPr lang="en-US" dirty="0"/>
              <a:t> appears as a top seller in multiple regions, indicating universal high demand.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Actionable Takeaway : </a:t>
            </a:r>
            <a:r>
              <a:rPr lang="en-US" dirty="0"/>
              <a:t>Implement region-specific promotions, ensuring the top 5 products for each region are always in stock locally.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649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A173-1A39-EB2D-54C3-44DC29398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823315" cy="87028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Insight 3: Month-over-Month (MoM) Sales Growth (2022 vs 2023)</a:t>
            </a:r>
            <a:endParaRPr lang="en-IN" sz="2400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994574-3F69-424E-014B-DC32CA249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669" y="1575881"/>
            <a:ext cx="6117011" cy="48150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CA519E-A747-47BA-BB51-620739FBD887}"/>
              </a:ext>
            </a:extLst>
          </p:cNvPr>
          <p:cNvSpPr txBox="1"/>
          <p:nvPr/>
        </p:nvSpPr>
        <p:spPr>
          <a:xfrm>
            <a:off x="7130374" y="2322986"/>
            <a:ext cx="43012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ctr">
              <a:buFont typeface="Wingdings" panose="05000000000000000000" pitchFamily="2" charset="2"/>
              <a:buChar char="Ø"/>
            </a:pPr>
            <a:r>
              <a:rPr lang="en-US" b="1" dirty="0"/>
              <a:t>Peak Sales : 2023</a:t>
            </a:r>
            <a:r>
              <a:rPr lang="en-US" dirty="0"/>
              <a:t> hit its peak in </a:t>
            </a:r>
            <a:r>
              <a:rPr lang="en-US" b="1" dirty="0"/>
              <a:t>February</a:t>
            </a:r>
            <a:r>
              <a:rPr lang="en-US" dirty="0"/>
              <a:t> (128K) and </a:t>
            </a:r>
            <a:r>
              <a:rPr lang="en-US" b="1" dirty="0"/>
              <a:t>October</a:t>
            </a:r>
            <a:r>
              <a:rPr lang="en-US" dirty="0"/>
              <a:t> (121K). </a:t>
            </a:r>
            <a:r>
              <a:rPr lang="en-US" b="1" dirty="0"/>
              <a:t>2022</a:t>
            </a:r>
            <a:r>
              <a:rPr lang="en-US" dirty="0"/>
              <a:t> peaked in </a:t>
            </a:r>
            <a:r>
              <a:rPr lang="en-US" b="1" dirty="0"/>
              <a:t>October</a:t>
            </a:r>
            <a:r>
              <a:rPr lang="en-US" dirty="0"/>
              <a:t> (105K).</a:t>
            </a:r>
          </a:p>
          <a:p>
            <a:pPr marL="285750" indent="-285750" fontAlgn="ctr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 fontAlgn="ctr">
              <a:buFont typeface="Wingdings" panose="05000000000000000000" pitchFamily="2" charset="2"/>
              <a:buChar char="Ø"/>
            </a:pPr>
            <a:r>
              <a:rPr lang="en-US" b="1" dirty="0"/>
              <a:t>Growth Period : February 2023</a:t>
            </a:r>
            <a:r>
              <a:rPr lang="en-US" dirty="0"/>
              <a:t> showed exceptional performance, far exceeding February 2022.</a:t>
            </a:r>
          </a:p>
          <a:p>
            <a:pPr marL="285750" indent="-285750" fontAlgn="ctr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 fontAlgn="ctr">
              <a:buFont typeface="Wingdings" panose="05000000000000000000" pitchFamily="2" charset="2"/>
              <a:buChar char="Ø"/>
            </a:pPr>
            <a:r>
              <a:rPr lang="en-US" dirty="0"/>
              <a:t>Actionable Takeaway :Investigate the cause of the </a:t>
            </a:r>
            <a:r>
              <a:rPr lang="en-US" b="1" dirty="0"/>
              <a:t>November 2023 drop</a:t>
            </a:r>
            <a:r>
              <a:rPr lang="en-US" dirty="0"/>
              <a:t> and plan strategic campaigns to stabilize year-end performance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026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4D6F-BDA3-A7B7-6D77-EA0A4121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00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Insight 4: Category Peak Sales Month</a:t>
            </a:r>
            <a:endParaRPr lang="en-IN" sz="2400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772303-1BD4-44CB-94E3-A689C2CECA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867" y="1235413"/>
            <a:ext cx="5596392" cy="5068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0ED2D6-1C4C-396A-864B-7939528E5565}"/>
              </a:ext>
            </a:extLst>
          </p:cNvPr>
          <p:cNvSpPr txBox="1"/>
          <p:nvPr/>
        </p:nvSpPr>
        <p:spPr>
          <a:xfrm>
            <a:off x="6759595" y="1839565"/>
            <a:ext cx="45942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Key Findings: </a:t>
            </a:r>
            <a:r>
              <a:rPr lang="en-US" b="1" dirty="0"/>
              <a:t>Technology:</a:t>
            </a:r>
            <a:r>
              <a:rPr lang="en-US" dirty="0"/>
              <a:t> Peak in </a:t>
            </a:r>
            <a:r>
              <a:rPr lang="en-US" b="1" dirty="0"/>
              <a:t>Oct-2023</a:t>
            </a:r>
            <a:r>
              <a:rPr lang="en-US" dirty="0"/>
              <a:t> (53</a:t>
            </a:r>
            <a:r>
              <a:rPr lang="en-US" dirty="0">
                <a:effectLst/>
              </a:rPr>
              <a:t>K</a:t>
            </a:r>
            <a:r>
              <a:rPr lang="en-US" dirty="0"/>
              <a:t>). </a:t>
            </a:r>
            <a:r>
              <a:rPr lang="en-US" b="1" dirty="0"/>
              <a:t>Office Supplies:</a:t>
            </a:r>
            <a:r>
              <a:rPr lang="en-US" dirty="0"/>
              <a:t> Peak in </a:t>
            </a:r>
            <a:r>
              <a:rPr lang="en-US" b="1" dirty="0"/>
              <a:t>Feb-2023</a:t>
            </a:r>
            <a:r>
              <a:rPr lang="en-US" dirty="0"/>
              <a:t> (44.1</a:t>
            </a:r>
            <a:r>
              <a:rPr lang="en-US" dirty="0">
                <a:effectLst/>
              </a:rPr>
              <a:t>K</a:t>
            </a:r>
            <a:r>
              <a:rPr lang="en-US" dirty="0"/>
              <a:t>). </a:t>
            </a:r>
            <a:r>
              <a:rPr lang="en-US" b="1" dirty="0"/>
              <a:t>Furniture:</a:t>
            </a:r>
            <a:r>
              <a:rPr lang="en-US" dirty="0"/>
              <a:t> Peak in </a:t>
            </a:r>
            <a:r>
              <a:rPr lang="en-US" b="1" dirty="0"/>
              <a:t>Oct-2022</a:t>
            </a:r>
            <a:r>
              <a:rPr lang="en-US" dirty="0"/>
              <a:t> (42.9</a:t>
            </a:r>
            <a:r>
              <a:rPr lang="en-US" dirty="0">
                <a:effectLst/>
              </a:rPr>
              <a:t>K</a:t>
            </a:r>
            <a:r>
              <a:rPr lang="en-US" dirty="0"/>
              <a:t>).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Observation : </a:t>
            </a:r>
            <a:r>
              <a:rPr lang="en-US" dirty="0"/>
              <a:t>Peak sales events are distributed across the year, suggesting distinct seasonal drivers for different categories.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Actionable Takeaway:</a:t>
            </a:r>
            <a:r>
              <a:rPr lang="en-US" dirty="0"/>
              <a:t> Schedule major marketing budgets and inventory boosts based on these historical peak months for each category.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296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9D1B6-F089-24E8-5791-234DD6BD2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487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Insight 5: Highest Sales Growth Sub-Category (2023 vs 2022)</a:t>
            </a:r>
            <a:endParaRPr lang="en-IN" sz="2400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EB8D1A-B860-2C4E-1D3E-95D44BEE5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050" y="1595336"/>
            <a:ext cx="5812418" cy="47664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F2112C-E1C5-D9A3-E288-830019A1CFFB}"/>
              </a:ext>
            </a:extLst>
          </p:cNvPr>
          <p:cNvSpPr txBox="1"/>
          <p:nvPr/>
        </p:nvSpPr>
        <p:spPr>
          <a:xfrm>
            <a:off x="6585626" y="1690688"/>
            <a:ext cx="44691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Key Finding : </a:t>
            </a:r>
            <a:r>
              <a:rPr lang="en-US" dirty="0"/>
              <a:t>The </a:t>
            </a:r>
            <a:r>
              <a:rPr lang="en-US" b="1" dirty="0"/>
              <a:t>Supplies</a:t>
            </a:r>
            <a:r>
              <a:rPr lang="en-US" dirty="0"/>
              <a:t> sub-category showed the highest growth rate: </a:t>
            </a:r>
            <a:r>
              <a:rPr lang="en-US" b="1" dirty="0"/>
              <a:t>79.16%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Sales Change : </a:t>
            </a:r>
            <a:r>
              <a:rPr lang="en-US" dirty="0"/>
              <a:t>Supplies grew from </a:t>
            </a:r>
            <a:r>
              <a:rPr lang="en-US" b="1" dirty="0"/>
              <a:t>$16,140.7</a:t>
            </a:r>
            <a:r>
              <a:rPr lang="en-US" dirty="0"/>
              <a:t> in 2022 to </a:t>
            </a:r>
            <a:r>
              <a:rPr lang="en-US" b="1" dirty="0"/>
              <a:t>$28,917.4</a:t>
            </a:r>
            <a:r>
              <a:rPr lang="en-US" dirty="0"/>
              <a:t> in 2023.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Actionable Takeaway </a:t>
            </a:r>
            <a:r>
              <a:rPr lang="en-US" dirty="0"/>
              <a:t>: Analyze the </a:t>
            </a:r>
            <a:r>
              <a:rPr lang="en-US" i="1" dirty="0"/>
              <a:t>Supplies</a:t>
            </a:r>
            <a:r>
              <a:rPr lang="en-US" dirty="0"/>
              <a:t> category to understand the factors driving this exceptional growth (e.g., new products, pricing, or marketing effectiveness) and apply those lessons elsewhere.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A2F709-4410-A2FB-CE30-673C5A949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782672"/>
              </p:ext>
            </p:extLst>
          </p:nvPr>
        </p:nvGraphicFramePr>
        <p:xfrm>
          <a:off x="7480570" y="3681254"/>
          <a:ext cx="235268" cy="640080"/>
        </p:xfrm>
        <a:graphic>
          <a:graphicData uri="http://schemas.openxmlformats.org/drawingml/2006/table">
            <a:tbl>
              <a:tblPr/>
              <a:tblGrid>
                <a:gridCol w="235268">
                  <a:extLst>
                    <a:ext uri="{9D8B030D-6E8A-4147-A177-3AD203B41FA5}">
                      <a16:colId xmlns:a16="http://schemas.microsoft.com/office/drawing/2014/main" val="3853725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236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51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415A-813F-056F-32B0-213588A3A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6" y="58235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n-lt"/>
              </a:rPr>
              <a:t>Project Summary</a:t>
            </a:r>
            <a:br>
              <a:rPr lang="en-US" sz="2800" b="1" dirty="0">
                <a:latin typeface="+mn-lt"/>
              </a:rPr>
            </a:br>
            <a:endParaRPr lang="en-IN" sz="28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24999-D1F6-3112-947F-1D1A0AB70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4778" y="2107727"/>
            <a:ext cx="9327204" cy="3505133"/>
          </a:xfrm>
        </p:spPr>
        <p:txBody>
          <a:bodyPr>
            <a:normAutofit/>
          </a:bodyPr>
          <a:lstStyle/>
          <a:p>
            <a:r>
              <a:rPr lang="en-US" sz="2400" dirty="0"/>
              <a:t>Successfully executed an </a:t>
            </a:r>
            <a:r>
              <a:rPr lang="en-US" sz="2400" b="1" dirty="0"/>
              <a:t>end-to-end data analysis pipeline</a:t>
            </a:r>
            <a:r>
              <a:rPr lang="en-US" sz="2400" dirty="0"/>
              <a:t> spanning ETL (Pandas), Database integration (</a:t>
            </a:r>
            <a:r>
              <a:rPr lang="en-US" sz="2400" dirty="0" err="1"/>
              <a:t>SQLAlchemy</a:t>
            </a:r>
            <a:r>
              <a:rPr lang="en-US" sz="2400" dirty="0"/>
              <a:t>/MySQL), and Business Intelligence reporting (Matplotlib).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5873054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67</TotalTime>
  <Words>511</Words>
  <Application>Microsoft Office PowerPoint</Application>
  <PresentationFormat>Widescreen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Times New Roman</vt:lpstr>
      <vt:lpstr>Tw Cen MT</vt:lpstr>
      <vt:lpstr>Wingdings</vt:lpstr>
      <vt:lpstr>Droplet</vt:lpstr>
      <vt:lpstr>Retail Orders Data Analysis: Sales Performance &amp; Growth</vt:lpstr>
      <vt:lpstr>PowerPoint Presentation</vt:lpstr>
      <vt:lpstr>Insight 1: Top 10 Revenue Products</vt:lpstr>
      <vt:lpstr>PowerPoint Presentation</vt:lpstr>
      <vt:lpstr>Insight 3: Month-over-Month (MoM) Sales Growth (2022 vs 2023)</vt:lpstr>
      <vt:lpstr>Insight 4: Category Peak Sales Month</vt:lpstr>
      <vt:lpstr>Insight 5: Highest Sales Growth Sub-Category (2023 vs 2022)</vt:lpstr>
      <vt:lpstr>Project 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amulya reddy</dc:creator>
  <cp:lastModifiedBy>amulya reddy</cp:lastModifiedBy>
  <cp:revision>1</cp:revision>
  <dcterms:created xsi:type="dcterms:W3CDTF">2025-09-27T07:25:15Z</dcterms:created>
  <dcterms:modified xsi:type="dcterms:W3CDTF">2025-09-27T08:32:57Z</dcterms:modified>
</cp:coreProperties>
</file>